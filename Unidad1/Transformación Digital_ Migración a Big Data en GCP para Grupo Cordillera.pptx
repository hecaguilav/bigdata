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embeddedFontLst>
    <p:embeddedFont>
      <p:font typeface="Inter"/>
      <p:regular r:id="rId201314"/>
      <p:bold r:id="rId301314"/>
    </p:embeddedFont>
    <p:embeddedFont>
      <p:font typeface="Montserrat"/>
      <p:regular r:id="rId201315"/>
      <p:bold r:id="rId3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301314" Target="fonts/301314.fntdata" Type="http://schemas.openxmlformats.org/officeDocument/2006/relationships/font"/><Relationship Id="rId301315" Target="fonts/3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152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838200"/>
            <a:ext cx="3048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5257800"/>
            <a:ext cx="5791200" cy="838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0"/>
            <a:ext cx="4876800" cy="6858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0"/>
            <a:ext cx="4876800" cy="68580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0" y="0"/>
            <a:ext cx="1219200" cy="68580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53600" y="6781800"/>
            <a:ext cx="2438400" cy="7620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1181100" y="762000"/>
            <a:ext cx="25603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84" kern="0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CORDILLERA</a:t>
            </a:r>
            <a:endParaRPr lang="en-US" sz="1050" dirty="0"/>
          </a:p>
        </p:txBody>
      </p:sp>
      <p:sp>
        <p:nvSpPr>
          <p:cNvPr id="11" name="Text 1"/>
          <p:cNvSpPr/>
          <p:nvPr/>
        </p:nvSpPr>
        <p:spPr>
          <a:xfrm>
            <a:off x="762000" y="1009650"/>
            <a:ext cx="5791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spc="30" kern="0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ESTRATEGIA BIG DATA</a:t>
            </a:r>
            <a:endParaRPr lang="en-US" sz="1500" dirty="0"/>
          </a:p>
        </p:txBody>
      </p:sp>
      <p:sp>
        <p:nvSpPr>
          <p:cNvPr id="12" name="Text 2"/>
          <p:cNvSpPr/>
          <p:nvPr/>
        </p:nvSpPr>
        <p:spPr>
          <a:xfrm>
            <a:off x="762000" y="1504950"/>
            <a:ext cx="57912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5625"/>
              </a:lnSpc>
              <a:buNone/>
            </a:pPr>
            <a:r>
              <a:rPr lang="en-US" sz="45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Transformación Digital:</a:t>
            </a:r>
            <a:pPr indent="0" marL="0">
              <a:lnSpc>
                <a:spcPts val="5625"/>
              </a:lnSpc>
              <a:buNone/>
            </a:pPr>
            <a:r>
              <a:rPr lang="en-US" sz="45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ts val="5625"/>
              </a:lnSpc>
              <a:buNone/>
            </a:pPr>
            <a:r>
              <a:rPr lang="en-US" sz="45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Migración de BI a Big Data en GCP</a:t>
            </a:r>
            <a:endParaRPr lang="en-US" sz="4500" dirty="0"/>
          </a:p>
        </p:txBody>
      </p:sp>
      <p:sp>
        <p:nvSpPr>
          <p:cNvPr id="13" name="Text 3"/>
          <p:cNvSpPr/>
          <p:nvPr/>
        </p:nvSpPr>
        <p:spPr>
          <a:xfrm>
            <a:off x="762000" y="4591050"/>
            <a:ext cx="5486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Hacia una arquitectura escalable, gobernada y orientada a decisiones en tiempo real.</a:t>
            </a:r>
            <a:endParaRPr lang="en-US" sz="1800" dirty="0"/>
          </a:p>
        </p:txBody>
      </p:sp>
      <p:sp>
        <p:nvSpPr>
          <p:cNvPr id="14" name="Text 4"/>
          <p:cNvSpPr/>
          <p:nvPr/>
        </p:nvSpPr>
        <p:spPr>
          <a:xfrm>
            <a:off x="762000" y="5638800"/>
            <a:ext cx="1920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spc="72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PRESENTADO POR</a:t>
            </a:r>
            <a:endParaRPr lang="en-US" sz="900" dirty="0"/>
          </a:p>
        </p:txBody>
      </p:sp>
      <p:sp>
        <p:nvSpPr>
          <p:cNvPr id="15" name="Text 5"/>
          <p:cNvSpPr/>
          <p:nvPr/>
        </p:nvSpPr>
        <p:spPr>
          <a:xfrm>
            <a:off x="749247" y="5829300"/>
            <a:ext cx="2674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Héctor Aguila</a:t>
            </a:r>
            <a:endParaRPr lang="en-US" sz="1350" dirty="0"/>
          </a:p>
        </p:txBody>
      </p:sp>
      <p:sp>
        <p:nvSpPr>
          <p:cNvPr id="16" name="Text 6"/>
          <p:cNvSpPr/>
          <p:nvPr/>
        </p:nvSpPr>
        <p:spPr>
          <a:xfrm>
            <a:off x="5419725" y="5676900"/>
            <a:ext cx="1133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00" b="1" spc="72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</a:t>
            </a:r>
            <a:endParaRPr lang="en-US" sz="900" dirty="0"/>
          </a:p>
        </p:txBody>
      </p:sp>
      <p:sp>
        <p:nvSpPr>
          <p:cNvPr id="17" name="Text 7"/>
          <p:cNvSpPr/>
          <p:nvPr/>
        </p:nvSpPr>
        <p:spPr>
          <a:xfrm>
            <a:off x="5419725" y="5867400"/>
            <a:ext cx="113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 Data |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40" y="1368482"/>
            <a:ext cx="754144" cy="3142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40" y="2120172"/>
            <a:ext cx="3582186" cy="110053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722" y="2371553"/>
            <a:ext cx="636309" cy="59776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412" y="2497244"/>
            <a:ext cx="384928" cy="346386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340" y="3409238"/>
            <a:ext cx="3582186" cy="109979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722" y="3660620"/>
            <a:ext cx="683443" cy="597031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8412" y="3786310"/>
            <a:ext cx="432062" cy="3456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340" y="4823259"/>
            <a:ext cx="3582186" cy="937403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04907" y="1776977"/>
            <a:ext cx="3613608" cy="2065673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93443" y="1965513"/>
            <a:ext cx="172825" cy="220818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07052" y="1776977"/>
            <a:ext cx="3613608" cy="2065673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95587" y="1965513"/>
            <a:ext cx="259238" cy="220818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04907" y="4031186"/>
            <a:ext cx="3613608" cy="2072669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93443" y="4219722"/>
            <a:ext cx="227815" cy="227814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07052" y="4031186"/>
            <a:ext cx="3613608" cy="2072669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95587" y="4219722"/>
            <a:ext cx="227815" cy="227814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1340" y="6103855"/>
            <a:ext cx="11249320" cy="282804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20433" y="6245012"/>
            <a:ext cx="164969" cy="126059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471340" y="471340"/>
            <a:ext cx="11720660" cy="45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1B43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Dolor de Cordillera</a:t>
            </a:r>
            <a:endParaRPr lang="en-US" sz="3600" dirty="0"/>
          </a:p>
        </p:txBody>
      </p:sp>
      <p:sp>
        <p:nvSpPr>
          <p:cNvPr id="22" name="Text 1"/>
          <p:cNvSpPr/>
          <p:nvPr/>
        </p:nvSpPr>
        <p:spPr>
          <a:xfrm>
            <a:off x="471340" y="991410"/>
            <a:ext cx="11249320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79"/>
              </a:lnSpc>
              <a:buNone/>
            </a:pPr>
            <a:r>
              <a:rPr lang="en-US" sz="1800" b="1" spc="87" kern="0" dirty="0">
                <a:solidFill>
                  <a:srgbClr val="BC6C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DIAGNÓSTICO DE LA REALIDAD ACTUAL</a:t>
            </a:r>
            <a:endParaRPr lang="en-US" sz="1800" dirty="0"/>
          </a:p>
        </p:txBody>
      </p:sp>
      <p:sp>
        <p:nvSpPr>
          <p:cNvPr id="23" name="Text 2"/>
          <p:cNvSpPr/>
          <p:nvPr/>
        </p:nvSpPr>
        <p:spPr>
          <a:xfrm>
            <a:off x="1547567" y="2403344"/>
            <a:ext cx="1663065" cy="3142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4"/>
              </a:lnSpc>
              <a:buNone/>
            </a:pPr>
            <a:r>
              <a:rPr lang="en-US" sz="2700" b="1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2700" dirty="0"/>
          </a:p>
        </p:txBody>
      </p:sp>
      <p:sp>
        <p:nvSpPr>
          <p:cNvPr id="24" name="Text 3"/>
          <p:cNvSpPr/>
          <p:nvPr/>
        </p:nvSpPr>
        <p:spPr>
          <a:xfrm>
            <a:off x="1547567" y="2717571"/>
            <a:ext cx="2494598" cy="2199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32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Sucursales</a:t>
            </a:r>
            <a:endParaRPr lang="en-US" sz="1350" dirty="0"/>
          </a:p>
        </p:txBody>
      </p:sp>
      <p:sp>
        <p:nvSpPr>
          <p:cNvPr id="25" name="Text 4"/>
          <p:cNvSpPr/>
          <p:nvPr/>
        </p:nvSpPr>
        <p:spPr>
          <a:xfrm>
            <a:off x="1594701" y="3692042"/>
            <a:ext cx="2494598" cy="3142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4"/>
              </a:lnSpc>
              <a:buNone/>
            </a:pPr>
            <a:r>
              <a:rPr lang="en-US" sz="2700" b="1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650</a:t>
            </a:r>
            <a:endParaRPr lang="en-US" sz="2700" dirty="0"/>
          </a:p>
        </p:txBody>
      </p:sp>
      <p:sp>
        <p:nvSpPr>
          <p:cNvPr id="26" name="Text 5"/>
          <p:cNvSpPr/>
          <p:nvPr/>
        </p:nvSpPr>
        <p:spPr>
          <a:xfrm>
            <a:off x="1594701" y="4006269"/>
            <a:ext cx="2245138" cy="2199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32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Empleados</a:t>
            </a:r>
            <a:endParaRPr lang="en-US" sz="1350" dirty="0"/>
          </a:p>
        </p:txBody>
      </p:sp>
      <p:sp>
        <p:nvSpPr>
          <p:cNvPr id="27" name="Text 6"/>
          <p:cNvSpPr/>
          <p:nvPr/>
        </p:nvSpPr>
        <p:spPr>
          <a:xfrm>
            <a:off x="597031" y="4823259"/>
            <a:ext cx="3277386" cy="93740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"Operando con información desactualizada y procesos manuales que frenan el crecimiento."</a:t>
            </a:r>
            <a:endParaRPr lang="en-US" sz="1200" dirty="0"/>
          </a:p>
        </p:txBody>
      </p:sp>
      <p:sp>
        <p:nvSpPr>
          <p:cNvPr id="28" name="Text 7"/>
          <p:cNvSpPr/>
          <p:nvPr/>
        </p:nvSpPr>
        <p:spPr>
          <a:xfrm>
            <a:off x="4760536" y="1965881"/>
            <a:ext cx="4712018" cy="2199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32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Reportes en Excel</a:t>
            </a:r>
            <a:endParaRPr lang="en-US" sz="1500" dirty="0"/>
          </a:p>
        </p:txBody>
      </p:sp>
      <p:sp>
        <p:nvSpPr>
          <p:cNvPr id="29" name="Text 8"/>
          <p:cNvSpPr/>
          <p:nvPr/>
        </p:nvSpPr>
        <p:spPr>
          <a:xfrm>
            <a:off x="4493443" y="2280599"/>
            <a:ext cx="3236536" cy="74309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Procesos manuales, lentos y altamente propensos a errores humanos. Desfase crítico de información.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8649092" y="1965881"/>
            <a:ext cx="3542908" cy="2199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32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Sistemas en Silos</a:t>
            </a:r>
            <a:endParaRPr lang="en-US" sz="1500" dirty="0"/>
          </a:p>
        </p:txBody>
      </p:sp>
      <p:sp>
        <p:nvSpPr>
          <p:cNvPr id="31" name="Text 10"/>
          <p:cNvSpPr/>
          <p:nvPr/>
        </p:nvSpPr>
        <p:spPr>
          <a:xfrm>
            <a:off x="8295587" y="2280599"/>
            <a:ext cx="3236537" cy="74309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Visión fragmentada del cliente y del inventario. La información no fluye entre departamentos.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4815526" y="4223650"/>
            <a:ext cx="4712018" cy="2199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32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Latencia de Datos</a:t>
            </a:r>
            <a:endParaRPr lang="en-US" sz="1500" dirty="0"/>
          </a:p>
        </p:txBody>
      </p:sp>
      <p:sp>
        <p:nvSpPr>
          <p:cNvPr id="33" name="Text 12"/>
          <p:cNvSpPr/>
          <p:nvPr/>
        </p:nvSpPr>
        <p:spPr>
          <a:xfrm>
            <a:off x="4493443" y="4541805"/>
            <a:ext cx="3236536" cy="74309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Toma de decisiones basada en lo que pasó hace 48 horas, no en lo que ocurre en el momento.</a:t>
            </a:r>
            <a:endParaRPr lang="en-US" sz="1200" dirty="0"/>
          </a:p>
        </p:txBody>
      </p:sp>
      <p:sp>
        <p:nvSpPr>
          <p:cNvPr id="34" name="Text 13"/>
          <p:cNvSpPr/>
          <p:nvPr/>
        </p:nvSpPr>
        <p:spPr>
          <a:xfrm>
            <a:off x="8617670" y="4223650"/>
            <a:ext cx="3574330" cy="2199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32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Oportunidades Perdidas</a:t>
            </a:r>
            <a:endParaRPr lang="en-US" sz="1500" dirty="0"/>
          </a:p>
        </p:txBody>
      </p:sp>
      <p:sp>
        <p:nvSpPr>
          <p:cNvPr id="35" name="Text 14"/>
          <p:cNvSpPr/>
          <p:nvPr/>
        </p:nvSpPr>
        <p:spPr>
          <a:xfrm>
            <a:off x="8295587" y="4541805"/>
            <a:ext cx="3236537" cy="49539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Incapacidad para reaccionar a tiempo ante cambios en la demanda o quiebres de stock.</a:t>
            </a:r>
            <a:endParaRPr lang="en-US" sz="1200" dirty="0"/>
          </a:p>
        </p:txBody>
      </p:sp>
      <p:sp>
        <p:nvSpPr>
          <p:cNvPr id="36" name="Text 15"/>
          <p:cNvSpPr/>
          <p:nvPr/>
        </p:nvSpPr>
        <p:spPr>
          <a:xfrm>
            <a:off x="471340" y="6229546"/>
            <a:ext cx="10089261" cy="15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7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Cordillera | Informe de Transformación Digital</a:t>
            </a:r>
            <a:endParaRPr lang="en-US" sz="1050" dirty="0"/>
          </a:p>
        </p:txBody>
      </p:sp>
      <p:sp>
        <p:nvSpPr>
          <p:cNvPr id="37" name="Text 16"/>
          <p:cNvSpPr/>
          <p:nvPr/>
        </p:nvSpPr>
        <p:spPr>
          <a:xfrm>
            <a:off x="9348247" y="6229546"/>
            <a:ext cx="2843753" cy="15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7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Diagnóstico de Ineficiencia Operativa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33400"/>
            <a:ext cx="4572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214563"/>
            <a:ext cx="2072580" cy="27336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690" y="2519363"/>
            <a:ext cx="609600" cy="6096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9665" y="2681288"/>
            <a:ext cx="247650" cy="2857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58380" y="2214563"/>
            <a:ext cx="2072580" cy="27336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89871" y="2519363"/>
            <a:ext cx="609600" cy="6096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70846" y="2681288"/>
            <a:ext cx="247650" cy="2857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59561" y="2214563"/>
            <a:ext cx="2072729" cy="273367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91051" y="2519363"/>
            <a:ext cx="609600" cy="6096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52976" y="2681288"/>
            <a:ext cx="285750" cy="2857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60890" y="2214563"/>
            <a:ext cx="2072580" cy="273367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92380" y="2519363"/>
            <a:ext cx="609600" cy="6096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54305" y="2681288"/>
            <a:ext cx="285750" cy="2857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62071" y="2214563"/>
            <a:ext cx="2072729" cy="273367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93561" y="2519363"/>
            <a:ext cx="609600" cy="6096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55486" y="2681288"/>
            <a:ext cx="285750" cy="2857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" y="5676900"/>
            <a:ext cx="10972800" cy="7239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8200" y="5924550"/>
            <a:ext cx="171450" cy="2286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1219200" y="457200"/>
            <a:ext cx="36804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84" kern="0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OPORTUNIDAD ESTRATÉGICA</a:t>
            </a:r>
            <a:endParaRPr lang="en-US" sz="1050" dirty="0"/>
          </a:p>
        </p:txBody>
      </p:sp>
      <p:sp>
        <p:nvSpPr>
          <p:cNvPr id="22" name="Text 1"/>
          <p:cNvSpPr/>
          <p:nvPr/>
        </p:nvSpPr>
        <p:spPr>
          <a:xfrm>
            <a:off x="609600" y="723900"/>
            <a:ext cx="1158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64E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¿Por qué Big Data? </a:t>
            </a:r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Oportunidad de las 5V</a:t>
            </a:r>
            <a:endParaRPr lang="en-US" sz="3600" dirty="0"/>
          </a:p>
        </p:txBody>
      </p:sp>
      <p:sp>
        <p:nvSpPr>
          <p:cNvPr id="23" name="Text 2"/>
          <p:cNvSpPr/>
          <p:nvPr/>
        </p:nvSpPr>
        <p:spPr>
          <a:xfrm>
            <a:off x="1041053" y="3357563"/>
            <a:ext cx="904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4E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Volumen</a:t>
            </a:r>
            <a:endParaRPr lang="en-US" sz="1500" dirty="0"/>
          </a:p>
        </p:txBody>
      </p:sp>
      <p:sp>
        <p:nvSpPr>
          <p:cNvPr id="24" name="Text 3"/>
          <p:cNvSpPr/>
          <p:nvPr/>
        </p:nvSpPr>
        <p:spPr>
          <a:xfrm>
            <a:off x="762000" y="3776662"/>
            <a:ext cx="146298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Terabytes de historial de ventas y clientes acumulados sin explotar.</a:t>
            </a:r>
            <a:endParaRPr lang="en-US" sz="1050" dirty="0"/>
          </a:p>
        </p:txBody>
      </p:sp>
      <p:sp>
        <p:nvSpPr>
          <p:cNvPr id="25" name="Text 4"/>
          <p:cNvSpPr/>
          <p:nvPr/>
        </p:nvSpPr>
        <p:spPr>
          <a:xfrm>
            <a:off x="3299371" y="3357563"/>
            <a:ext cx="99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4E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Velocidad</a:t>
            </a:r>
            <a:endParaRPr lang="en-US" sz="1500" dirty="0"/>
          </a:p>
        </p:txBody>
      </p:sp>
      <p:sp>
        <p:nvSpPr>
          <p:cNvPr id="26" name="Text 5"/>
          <p:cNvSpPr/>
          <p:nvPr/>
        </p:nvSpPr>
        <p:spPr>
          <a:xfrm>
            <a:off x="3063180" y="3776662"/>
            <a:ext cx="146298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en tiempo real para promociones dinámicas y gestión de stock.</a:t>
            </a:r>
            <a:endParaRPr lang="en-US" sz="1050" dirty="0"/>
          </a:p>
        </p:txBody>
      </p:sp>
      <p:sp>
        <p:nvSpPr>
          <p:cNvPr id="27" name="Text 6"/>
          <p:cNvSpPr/>
          <p:nvPr/>
        </p:nvSpPr>
        <p:spPr>
          <a:xfrm>
            <a:off x="5648176" y="3357563"/>
            <a:ext cx="89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4E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Variedad</a:t>
            </a:r>
            <a:endParaRPr lang="en-US" sz="1500" dirty="0"/>
          </a:p>
        </p:txBody>
      </p:sp>
      <p:sp>
        <p:nvSpPr>
          <p:cNvPr id="28" name="Text 7"/>
          <p:cNvSpPr/>
          <p:nvPr/>
        </p:nvSpPr>
        <p:spPr>
          <a:xfrm>
            <a:off x="5364361" y="3776662"/>
            <a:ext cx="1463129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Integración de POS, e-commerce, redes sociales y sensores IoT.</a:t>
            </a:r>
            <a:endParaRPr lang="en-US" sz="1050" dirty="0"/>
          </a:p>
        </p:txBody>
      </p:sp>
      <p:sp>
        <p:nvSpPr>
          <p:cNvPr id="29" name="Text 8"/>
          <p:cNvSpPr/>
          <p:nvPr/>
        </p:nvSpPr>
        <p:spPr>
          <a:xfrm>
            <a:off x="7897118" y="3357563"/>
            <a:ext cx="100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4E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Veracidad</a:t>
            </a:r>
            <a:endParaRPr lang="en-US" sz="1500" dirty="0"/>
          </a:p>
        </p:txBody>
      </p:sp>
      <p:sp>
        <p:nvSpPr>
          <p:cNvPr id="30" name="Text 9"/>
          <p:cNvSpPr/>
          <p:nvPr/>
        </p:nvSpPr>
        <p:spPr>
          <a:xfrm>
            <a:off x="7665690" y="3776662"/>
            <a:ext cx="146298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Eliminación del error manual y garantía de una fuente única de verdad.</a:t>
            </a:r>
            <a:endParaRPr lang="en-US" sz="1050" dirty="0"/>
          </a:p>
        </p:txBody>
      </p:sp>
      <p:sp>
        <p:nvSpPr>
          <p:cNvPr id="31" name="Text 10"/>
          <p:cNvSpPr/>
          <p:nvPr/>
        </p:nvSpPr>
        <p:spPr>
          <a:xfrm>
            <a:off x="10441186" y="3357563"/>
            <a:ext cx="51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4E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Valor</a:t>
            </a:r>
            <a:endParaRPr lang="en-US" sz="1500" dirty="0"/>
          </a:p>
        </p:txBody>
      </p:sp>
      <p:sp>
        <p:nvSpPr>
          <p:cNvPr id="32" name="Text 11"/>
          <p:cNvSpPr/>
          <p:nvPr/>
        </p:nvSpPr>
        <p:spPr>
          <a:xfrm>
            <a:off x="9966871" y="3776662"/>
            <a:ext cx="1463129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Conversión de datos en rentabilidad directa y optimización de inventario.</a:t>
            </a:r>
            <a:endParaRPr lang="en-US" sz="1050" dirty="0"/>
          </a:p>
        </p:txBody>
      </p:sp>
      <p:sp>
        <p:nvSpPr>
          <p:cNvPr id="33" name="Text 12"/>
          <p:cNvSpPr/>
          <p:nvPr/>
        </p:nvSpPr>
        <p:spPr>
          <a:xfrm>
            <a:off x="1162050" y="5905500"/>
            <a:ext cx="1102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la intuición a la gestión basada en inteligencia de datos.</a:t>
            </a:r>
            <a:endParaRPr lang="en-US" sz="1350" dirty="0"/>
          </a:p>
        </p:txBody>
      </p:sp>
      <p:sp>
        <p:nvSpPr>
          <p:cNvPr id="34" name="Text 13"/>
          <p:cNvSpPr/>
          <p:nvPr/>
        </p:nvSpPr>
        <p:spPr>
          <a:xfrm>
            <a:off x="8073330" y="5943600"/>
            <a:ext cx="41186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spc="84" kern="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CORDILLERA | BIG DATA STRATEGY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16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58" y="1078606"/>
            <a:ext cx="643944" cy="3219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58" y="1368380"/>
            <a:ext cx="11226001" cy="215721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58" y="1368380"/>
            <a:ext cx="11226001" cy="41856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958" y="2366493"/>
            <a:ext cx="11226001" cy="57954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58" y="2946042"/>
            <a:ext cx="11226001" cy="57954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958" y="4591872"/>
            <a:ext cx="3570240" cy="143114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4658" y="4785055"/>
            <a:ext cx="346120" cy="336436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85786" y="4922899"/>
            <a:ext cx="488366" cy="38246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87144" y="4785055"/>
            <a:ext cx="346120" cy="336436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10775" y="4644444"/>
            <a:ext cx="7398183" cy="132587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03958" y="4865799"/>
            <a:ext cx="169035" cy="16903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958" y="6216194"/>
            <a:ext cx="11226001" cy="239341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482958" y="402465"/>
            <a:ext cx="11709042" cy="3219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35"/>
              </a:lnSpc>
              <a:buNone/>
            </a:pPr>
            <a:r>
              <a:rPr lang="en-US" sz="2700" dirty="0">
                <a:solidFill>
                  <a:srgbClr val="1B43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Evaluación de Alternativas On-Premise</a:t>
            </a:r>
            <a:endParaRPr lang="en-US" sz="2700" dirty="0"/>
          </a:p>
        </p:txBody>
      </p:sp>
      <p:sp>
        <p:nvSpPr>
          <p:cNvPr id="16" name="Text 1"/>
          <p:cNvSpPr/>
          <p:nvPr/>
        </p:nvSpPr>
        <p:spPr>
          <a:xfrm>
            <a:off x="482958" y="756634"/>
            <a:ext cx="11226001" cy="2253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75"/>
              </a:lnSpc>
              <a:buNone/>
            </a:pPr>
            <a:r>
              <a:rPr lang="en-US" sz="1500" b="1" spc="142" kern="0" dirty="0">
                <a:solidFill>
                  <a:srgbClr val="BC6C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¿CONSTRUIR O CONTRATAR?</a:t>
            </a:r>
            <a:endParaRPr lang="en-US" sz="1500" dirty="0"/>
          </a:p>
        </p:txBody>
      </p:sp>
      <p:sp>
        <p:nvSpPr>
          <p:cNvPr id="17" name="Text 2"/>
          <p:cNvSpPr/>
          <p:nvPr/>
        </p:nvSpPr>
        <p:spPr>
          <a:xfrm>
            <a:off x="676141" y="1368380"/>
            <a:ext cx="2349237" cy="41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HERRAMIENTA</a:t>
            </a:r>
            <a:endParaRPr lang="en-US" sz="1050" dirty="0"/>
          </a:p>
        </p:txBody>
      </p:sp>
      <p:sp>
        <p:nvSpPr>
          <p:cNvPr id="18" name="Text 3"/>
          <p:cNvSpPr/>
          <p:nvPr/>
        </p:nvSpPr>
        <p:spPr>
          <a:xfrm>
            <a:off x="3482578" y="1368380"/>
            <a:ext cx="3284716" cy="41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DESCRIPCIÓN</a:t>
            </a:r>
            <a:endParaRPr lang="en-US" sz="1050" dirty="0"/>
          </a:p>
        </p:txBody>
      </p:sp>
      <p:sp>
        <p:nvSpPr>
          <p:cNvPr id="19" name="Text 4"/>
          <p:cNvSpPr/>
          <p:nvPr/>
        </p:nvSpPr>
        <p:spPr>
          <a:xfrm>
            <a:off x="7224494" y="1368380"/>
            <a:ext cx="4220447" cy="41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RAZÓN DE DESCARTE</a:t>
            </a:r>
            <a:endParaRPr lang="en-US" sz="1050" dirty="0"/>
          </a:p>
        </p:txBody>
      </p:sp>
      <p:sp>
        <p:nvSpPr>
          <p:cNvPr id="20" name="Text 5"/>
          <p:cNvSpPr/>
          <p:nvPr/>
        </p:nvSpPr>
        <p:spPr>
          <a:xfrm>
            <a:off x="676141" y="1786944"/>
            <a:ext cx="2354981" cy="57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Hadoop / HDFS</a:t>
            </a:r>
            <a:endParaRPr lang="en-US" sz="1200" dirty="0"/>
          </a:p>
        </p:txBody>
      </p:sp>
      <p:sp>
        <p:nvSpPr>
          <p:cNvPr id="21" name="Text 6"/>
          <p:cNvSpPr/>
          <p:nvPr/>
        </p:nvSpPr>
        <p:spPr>
          <a:xfrm>
            <a:off x="3482578" y="1786944"/>
            <a:ext cx="3284716" cy="57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8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 para almacenamiento y procesamiento distribuido.</a:t>
            </a:r>
            <a:endParaRPr lang="en-US" sz="1050" dirty="0"/>
          </a:p>
        </p:txBody>
      </p:sp>
      <p:sp>
        <p:nvSpPr>
          <p:cNvPr id="22" name="Text 7"/>
          <p:cNvSpPr/>
          <p:nvPr/>
        </p:nvSpPr>
        <p:spPr>
          <a:xfrm>
            <a:off x="7224494" y="1786944"/>
            <a:ext cx="4220447" cy="57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8"/>
              </a:lnSpc>
              <a:buNone/>
            </a:pPr>
            <a:r>
              <a:rPr lang="en-US" sz="1050" i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 complejidad de administración y mantenimiento. Elevado TCO en hardware.</a:t>
            </a:r>
            <a:endParaRPr lang="en-US" sz="1050" dirty="0"/>
          </a:p>
        </p:txBody>
      </p:sp>
      <p:sp>
        <p:nvSpPr>
          <p:cNvPr id="23" name="Text 8"/>
          <p:cNvSpPr/>
          <p:nvPr/>
        </p:nvSpPr>
        <p:spPr>
          <a:xfrm>
            <a:off x="676141" y="2366493"/>
            <a:ext cx="3260743" cy="57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 (Standalone)</a:t>
            </a:r>
            <a:endParaRPr lang="en-US" sz="1200" dirty="0"/>
          </a:p>
        </p:txBody>
      </p:sp>
      <p:sp>
        <p:nvSpPr>
          <p:cNvPr id="24" name="Text 9"/>
          <p:cNvSpPr/>
          <p:nvPr/>
        </p:nvSpPr>
        <p:spPr>
          <a:xfrm>
            <a:off x="3482578" y="2366493"/>
            <a:ext cx="7313726" cy="57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8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Motor de procesamiento rápido para Big Data.</a:t>
            </a:r>
            <a:endParaRPr lang="en-US" sz="1050" dirty="0"/>
          </a:p>
        </p:txBody>
      </p:sp>
      <p:sp>
        <p:nvSpPr>
          <p:cNvPr id="25" name="Text 10"/>
          <p:cNvSpPr/>
          <p:nvPr/>
        </p:nvSpPr>
        <p:spPr>
          <a:xfrm>
            <a:off x="7224494" y="2366493"/>
            <a:ext cx="4220447" cy="57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8"/>
              </a:lnSpc>
              <a:buNone/>
            </a:pPr>
            <a:r>
              <a:rPr lang="en-US" sz="1050" i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Requiere equipo técnico altamente especializado; no es una solución integral.</a:t>
            </a:r>
            <a:endParaRPr lang="en-US" sz="1050" dirty="0"/>
          </a:p>
        </p:txBody>
      </p:sp>
      <p:sp>
        <p:nvSpPr>
          <p:cNvPr id="26" name="Text 11"/>
          <p:cNvSpPr/>
          <p:nvPr/>
        </p:nvSpPr>
        <p:spPr>
          <a:xfrm>
            <a:off x="676141" y="2946042"/>
            <a:ext cx="3441896" cy="57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Cassandra / MongoDB</a:t>
            </a:r>
            <a:endParaRPr lang="en-US" sz="1200" dirty="0"/>
          </a:p>
        </p:txBody>
      </p:sp>
      <p:sp>
        <p:nvSpPr>
          <p:cNvPr id="27" name="Text 12"/>
          <p:cNvSpPr/>
          <p:nvPr/>
        </p:nvSpPr>
        <p:spPr>
          <a:xfrm>
            <a:off x="3482578" y="2946042"/>
            <a:ext cx="8144832" cy="57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8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Bases de datos NoSQL para datos no estructurados.</a:t>
            </a:r>
            <a:endParaRPr lang="en-US" sz="1050" dirty="0"/>
          </a:p>
        </p:txBody>
      </p:sp>
      <p:sp>
        <p:nvSpPr>
          <p:cNvPr id="28" name="Text 13"/>
          <p:cNvSpPr/>
          <p:nvPr/>
        </p:nvSpPr>
        <p:spPr>
          <a:xfrm>
            <a:off x="7224494" y="2946042"/>
            <a:ext cx="4220447" cy="5795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8"/>
              </a:lnSpc>
              <a:buNone/>
            </a:pPr>
            <a:r>
              <a:rPr lang="en-US" sz="1050" i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Excelentes para nichos, pero carecen de una visión unificada de Data Warehouse.</a:t>
            </a:r>
            <a:endParaRPr lang="en-US" sz="1050" dirty="0"/>
          </a:p>
        </p:txBody>
      </p:sp>
      <p:sp>
        <p:nvSpPr>
          <p:cNvPr id="29" name="Text 14"/>
          <p:cNvSpPr/>
          <p:nvPr/>
        </p:nvSpPr>
        <p:spPr>
          <a:xfrm>
            <a:off x="676141" y="5185885"/>
            <a:ext cx="923279" cy="2575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14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COSTOS (CAPEX)</a:t>
            </a:r>
            <a:endParaRPr lang="en-US" sz="900" dirty="0"/>
          </a:p>
        </p:txBody>
      </p:sp>
      <p:sp>
        <p:nvSpPr>
          <p:cNvPr id="30" name="Text 15"/>
          <p:cNvSpPr/>
          <p:nvPr/>
        </p:nvSpPr>
        <p:spPr>
          <a:xfrm>
            <a:off x="2860518" y="5185885"/>
            <a:ext cx="999496" cy="2575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14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 INMEDIATO</a:t>
            </a:r>
            <a:endParaRPr lang="en-US" sz="900" dirty="0"/>
          </a:p>
        </p:txBody>
      </p:sp>
      <p:sp>
        <p:nvSpPr>
          <p:cNvPr id="31" name="Text 16"/>
          <p:cNvSpPr/>
          <p:nvPr/>
        </p:nvSpPr>
        <p:spPr>
          <a:xfrm>
            <a:off x="676141" y="5572251"/>
            <a:ext cx="3183874" cy="25757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14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Balanza inclinada hacia el costo operativo y la complejidad técnica.</a:t>
            </a:r>
            <a:endParaRPr lang="en-US" sz="900" dirty="0"/>
          </a:p>
        </p:txBody>
      </p:sp>
      <p:sp>
        <p:nvSpPr>
          <p:cNvPr id="32" name="Text 17"/>
          <p:cNvSpPr/>
          <p:nvPr/>
        </p:nvSpPr>
        <p:spPr>
          <a:xfrm>
            <a:off x="4737388" y="4837627"/>
            <a:ext cx="7011817" cy="2253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75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Conclusión Estratégica</a:t>
            </a:r>
            <a:endParaRPr lang="en-US" sz="1350" dirty="0"/>
          </a:p>
        </p:txBody>
      </p:sp>
      <p:sp>
        <p:nvSpPr>
          <p:cNvPr id="33" name="Text 18"/>
          <p:cNvSpPr/>
          <p:nvPr/>
        </p:nvSpPr>
        <p:spPr>
          <a:xfrm>
            <a:off x="4503958" y="5127402"/>
            <a:ext cx="7011817" cy="64972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implementación On-Premise implica un </a:t>
            </a:r>
            <a:pPr indent="0" marL="0">
              <a:lnSpc>
                <a:spcPts val="1706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alto costo inicial (CAPEX)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una dependencia crítica de talento especializado escaso. Para Grupo Cordillera, esto representa un riesgo operativo y una barrera para la agilidad que el negocio de retail demanda hoy.</a:t>
            </a:r>
            <a:endParaRPr lang="en-US" sz="1050" dirty="0"/>
          </a:p>
        </p:txBody>
      </p:sp>
      <p:sp>
        <p:nvSpPr>
          <p:cNvPr id="34" name="Text 19"/>
          <p:cNvSpPr/>
          <p:nvPr/>
        </p:nvSpPr>
        <p:spPr>
          <a:xfrm>
            <a:off x="482958" y="6312786"/>
            <a:ext cx="7574259" cy="1427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Cordillera | Análisis de Alternativas Tecnológicas</a:t>
            </a:r>
            <a:endParaRPr lang="en-US" sz="750" dirty="0"/>
          </a:p>
        </p:txBody>
      </p:sp>
      <p:sp>
        <p:nvSpPr>
          <p:cNvPr id="35" name="Text 20"/>
          <p:cNvSpPr/>
          <p:nvPr/>
        </p:nvSpPr>
        <p:spPr>
          <a:xfrm>
            <a:off x="10404973" y="6312786"/>
            <a:ext cx="1787027" cy="1427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MIGRACIÓN BIG DATA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621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19300"/>
            <a:ext cx="2426494" cy="304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8034" y="2324100"/>
            <a:ext cx="733425" cy="6477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0434" y="2476500"/>
            <a:ext cx="428625" cy="3429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0394" y="3429000"/>
            <a:ext cx="142875" cy="228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5669" y="2019300"/>
            <a:ext cx="2426494" cy="30480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4116" y="2324100"/>
            <a:ext cx="609600" cy="6477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06516" y="2476500"/>
            <a:ext cx="304800" cy="3429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24563" y="3429000"/>
            <a:ext cx="142875" cy="2286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9838" y="2019300"/>
            <a:ext cx="2426494" cy="30480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09234" y="2324100"/>
            <a:ext cx="647700" cy="6477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61634" y="2476500"/>
            <a:ext cx="342900" cy="3429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98731" y="3429000"/>
            <a:ext cx="142875" cy="2286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94006" y="2019300"/>
            <a:ext cx="2426494" cy="30480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02453" y="2324100"/>
            <a:ext cx="609600" cy="6477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54853" y="2476500"/>
            <a:ext cx="304800" cy="3429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5562600"/>
            <a:ext cx="11049000" cy="7239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0100" y="5810250"/>
            <a:ext cx="228600" cy="2286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571500" y="571500"/>
            <a:ext cx="1162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1B43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Solución: Ecosistema GCP</a:t>
            </a:r>
            <a:endParaRPr lang="en-US" sz="3600" dirty="0"/>
          </a:p>
        </p:txBody>
      </p:sp>
      <p:sp>
        <p:nvSpPr>
          <p:cNvPr id="22" name="Text 1"/>
          <p:cNvSpPr/>
          <p:nvPr/>
        </p:nvSpPr>
        <p:spPr>
          <a:xfrm>
            <a:off x="571500" y="1104900"/>
            <a:ext cx="1162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spc="72" kern="0" dirty="0">
                <a:solidFill>
                  <a:srgbClr val="BC6C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ECOSISTEMA ESCALABLE, GESTIONADO Y RENTABLE</a:t>
            </a:r>
            <a:endParaRPr lang="en-US" sz="1800" dirty="0"/>
          </a:p>
        </p:txBody>
      </p:sp>
      <p:sp>
        <p:nvSpPr>
          <p:cNvPr id="23" name="Text 2"/>
          <p:cNvSpPr/>
          <p:nvPr/>
        </p:nvSpPr>
        <p:spPr>
          <a:xfrm>
            <a:off x="1132284" y="3200400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Storage</a:t>
            </a:r>
            <a:endParaRPr lang="en-US" sz="1500" dirty="0"/>
          </a:p>
        </p:txBody>
      </p:sp>
      <p:sp>
        <p:nvSpPr>
          <p:cNvPr id="24" name="Text 3"/>
          <p:cNvSpPr/>
          <p:nvPr/>
        </p:nvSpPr>
        <p:spPr>
          <a:xfrm>
            <a:off x="876300" y="3619500"/>
            <a:ext cx="181689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Almacenamiento unificado y seguro para todo tipo de datos (Data Lake). Bajo costo y alta disponibilidad.</a:t>
            </a:r>
            <a:endParaRPr lang="en-US" sz="1050" dirty="0"/>
          </a:p>
        </p:txBody>
      </p:sp>
      <p:sp>
        <p:nvSpPr>
          <p:cNvPr id="25" name="Text 4"/>
          <p:cNvSpPr/>
          <p:nvPr/>
        </p:nvSpPr>
        <p:spPr>
          <a:xfrm>
            <a:off x="4268391" y="3200400"/>
            <a:ext cx="78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Pub/Sub</a:t>
            </a:r>
            <a:endParaRPr lang="en-US" sz="1500" dirty="0"/>
          </a:p>
        </p:txBody>
      </p:sp>
      <p:sp>
        <p:nvSpPr>
          <p:cNvPr id="26" name="Text 5"/>
          <p:cNvSpPr/>
          <p:nvPr/>
        </p:nvSpPr>
        <p:spPr>
          <a:xfrm>
            <a:off x="3750469" y="3619500"/>
            <a:ext cx="181689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Ingesta masiva de eventos en tiempo real. Conecta ventas de POS, clics web y sensores de inventario.</a:t>
            </a:r>
            <a:endParaRPr lang="en-US" sz="1050" dirty="0"/>
          </a:p>
        </p:txBody>
      </p:sp>
      <p:sp>
        <p:nvSpPr>
          <p:cNvPr id="27" name="Text 6"/>
          <p:cNvSpPr/>
          <p:nvPr/>
        </p:nvSpPr>
        <p:spPr>
          <a:xfrm>
            <a:off x="7128272" y="3200400"/>
            <a:ext cx="80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Dataflow</a:t>
            </a:r>
            <a:endParaRPr lang="en-US" sz="1500" dirty="0"/>
          </a:p>
        </p:txBody>
      </p:sp>
      <p:sp>
        <p:nvSpPr>
          <p:cNvPr id="28" name="Text 7"/>
          <p:cNvSpPr/>
          <p:nvPr/>
        </p:nvSpPr>
        <p:spPr>
          <a:xfrm>
            <a:off x="6624638" y="3619500"/>
            <a:ext cx="181689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Procesamiento inteligente y auto-escalable de datos en batch y streaming. Limpieza y transformación.</a:t>
            </a:r>
            <a:endParaRPr lang="en-US" sz="1050" dirty="0"/>
          </a:p>
        </p:txBody>
      </p:sp>
      <p:sp>
        <p:nvSpPr>
          <p:cNvPr id="29" name="Text 8"/>
          <p:cNvSpPr/>
          <p:nvPr/>
        </p:nvSpPr>
        <p:spPr>
          <a:xfrm>
            <a:off x="9978628" y="320040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BigQuery</a:t>
            </a:r>
            <a:endParaRPr lang="en-US" sz="1500" dirty="0"/>
          </a:p>
        </p:txBody>
      </p:sp>
      <p:sp>
        <p:nvSpPr>
          <p:cNvPr id="30" name="Text 9"/>
          <p:cNvSpPr/>
          <p:nvPr/>
        </p:nvSpPr>
        <p:spPr>
          <a:xfrm>
            <a:off x="9498806" y="3619500"/>
            <a:ext cx="1816894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Warehouse corporativo. Análisis de petabytes en segundos. Soporte nativo para Machine Learning.</a:t>
            </a:r>
            <a:endParaRPr lang="en-US" sz="1050" dirty="0"/>
          </a:p>
        </p:txBody>
      </p:sp>
      <p:sp>
        <p:nvSpPr>
          <p:cNvPr id="31" name="Text 10"/>
          <p:cNvSpPr/>
          <p:nvPr/>
        </p:nvSpPr>
        <p:spPr>
          <a:xfrm>
            <a:off x="1181100" y="5791200"/>
            <a:ext cx="11010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"De silos fragmentados a una única fuente de verdad unificada."</a:t>
            </a:r>
            <a:endParaRPr lang="en-US" sz="1350" dirty="0"/>
          </a:p>
        </p:txBody>
      </p:sp>
      <p:sp>
        <p:nvSpPr>
          <p:cNvPr id="32" name="Text 11"/>
          <p:cNvSpPr/>
          <p:nvPr/>
        </p:nvSpPr>
        <p:spPr>
          <a:xfrm>
            <a:off x="7652296" y="5829300"/>
            <a:ext cx="45397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84" kern="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ARQUITECTURA MODERNA | GRUPO CORDILLERA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437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09600"/>
            <a:ext cx="10972800" cy="1028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200" y="666750"/>
            <a:ext cx="457200" cy="6858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019300"/>
            <a:ext cx="5257800" cy="3048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057400"/>
            <a:ext cx="228600" cy="228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552700"/>
            <a:ext cx="5257800" cy="23622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2819400"/>
            <a:ext cx="152400" cy="4953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3505200"/>
            <a:ext cx="152400" cy="4953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4191000"/>
            <a:ext cx="152400" cy="4953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600" y="2019300"/>
            <a:ext cx="5257800" cy="304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2057400"/>
            <a:ext cx="228600" cy="2286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0" y="2552700"/>
            <a:ext cx="5257800" cy="21907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3200" y="2781300"/>
            <a:ext cx="4800600" cy="3238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200" y="329565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200" y="3638550"/>
            <a:ext cx="133350" cy="152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53200" y="4171950"/>
            <a:ext cx="4800600" cy="3429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29400" y="428625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" y="5219700"/>
            <a:ext cx="10972800" cy="914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8200" y="5534025"/>
            <a:ext cx="361950" cy="28575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609600" y="609600"/>
            <a:ext cx="1158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064E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Gobierno de Datos y Cumplimiento Legal</a:t>
            </a:r>
            <a:endParaRPr lang="en-US" sz="3600" dirty="0"/>
          </a:p>
        </p:txBody>
      </p:sp>
      <p:sp>
        <p:nvSpPr>
          <p:cNvPr id="22" name="Text 1"/>
          <p:cNvSpPr/>
          <p:nvPr/>
        </p:nvSpPr>
        <p:spPr>
          <a:xfrm>
            <a:off x="609600" y="1143000"/>
            <a:ext cx="9820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spc="60" kern="0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PROTEGIENDO NUESTRO ACTIVO MÁS VALIOSO</a:t>
            </a:r>
            <a:endParaRPr lang="en-US" sz="1500" dirty="0"/>
          </a:p>
        </p:txBody>
      </p:sp>
      <p:sp>
        <p:nvSpPr>
          <p:cNvPr id="23" name="Text 2"/>
          <p:cNvSpPr/>
          <p:nvPr/>
        </p:nvSpPr>
        <p:spPr>
          <a:xfrm>
            <a:off x="1143000" y="2019300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64E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CALIDAD DEL DATO</a:t>
            </a:r>
            <a:endParaRPr lang="en-US" sz="1800" dirty="0"/>
          </a:p>
        </p:txBody>
      </p:sp>
      <p:sp>
        <p:nvSpPr>
          <p:cNvPr id="24" name="Text 3"/>
          <p:cNvSpPr/>
          <p:nvPr/>
        </p:nvSpPr>
        <p:spPr>
          <a:xfrm>
            <a:off x="1143000" y="2781300"/>
            <a:ext cx="4495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Validación Automática: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Reglas integradas en la ingesta vía </a:t>
            </a:r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Dataflow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50" dirty="0"/>
          </a:p>
        </p:txBody>
      </p:sp>
      <p:sp>
        <p:nvSpPr>
          <p:cNvPr id="25" name="Text 4"/>
          <p:cNvSpPr/>
          <p:nvPr/>
        </p:nvSpPr>
        <p:spPr>
          <a:xfrm>
            <a:off x="1143000" y="3467100"/>
            <a:ext cx="4495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 Única: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Eliminación de duplicados y discrepancias entre sucursales.</a:t>
            </a:r>
            <a:endParaRPr lang="en-US" sz="1350" dirty="0"/>
          </a:p>
        </p:txBody>
      </p:sp>
      <p:sp>
        <p:nvSpPr>
          <p:cNvPr id="26" name="Text 5"/>
          <p:cNvSpPr/>
          <p:nvPr/>
        </p:nvSpPr>
        <p:spPr>
          <a:xfrm>
            <a:off x="1143000" y="4152900"/>
            <a:ext cx="4495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Consistencia: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Datos certificados para la toma de decisiones directivas.</a:t>
            </a:r>
            <a:endParaRPr lang="en-US" sz="1350" dirty="0"/>
          </a:p>
        </p:txBody>
      </p:sp>
      <p:sp>
        <p:nvSpPr>
          <p:cNvPr id="27" name="Text 6"/>
          <p:cNvSpPr/>
          <p:nvPr/>
        </p:nvSpPr>
        <p:spPr>
          <a:xfrm>
            <a:off x="6858000" y="2019300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EA58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LEY CHILENA 21.719</a:t>
            </a:r>
            <a:endParaRPr lang="en-US" sz="1800" dirty="0"/>
          </a:p>
        </p:txBody>
      </p:sp>
      <p:sp>
        <p:nvSpPr>
          <p:cNvPr id="28" name="Text 7"/>
          <p:cNvSpPr/>
          <p:nvPr/>
        </p:nvSpPr>
        <p:spPr>
          <a:xfrm>
            <a:off x="6553200" y="2781300"/>
            <a:ext cx="563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Alineada con estándares internacionales (GDPR) para el retail.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6819900" y="325755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Trazabilidad: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Control total del ciclo de vida del dato personal.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6800850" y="3600450"/>
            <a:ext cx="4552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Anonimización: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Análisis seguro sin exponer identidad del cliente.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6896100" y="4248150"/>
            <a:ext cx="529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Riesgo: Sanciones de hasta 20.000 UTM (~$1.4M USD).</a:t>
            </a:r>
            <a:endParaRPr lang="en-US" sz="1050" dirty="0"/>
          </a:p>
        </p:txBody>
      </p:sp>
      <p:sp>
        <p:nvSpPr>
          <p:cNvPr id="32" name="Text 11"/>
          <p:cNvSpPr/>
          <p:nvPr/>
        </p:nvSpPr>
        <p:spPr>
          <a:xfrm>
            <a:off x="1352550" y="5448300"/>
            <a:ext cx="8641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spc="-27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RESPONSABILIDAD PROACTIVA (ACCOUNTABILITY)</a:t>
            </a:r>
            <a:endParaRPr lang="en-US" sz="1350" dirty="0"/>
          </a:p>
        </p:txBody>
      </p:sp>
      <p:sp>
        <p:nvSpPr>
          <p:cNvPr id="33" name="Text 12"/>
          <p:cNvSpPr/>
          <p:nvPr/>
        </p:nvSpPr>
        <p:spPr>
          <a:xfrm>
            <a:off x="1352550" y="5715000"/>
            <a:ext cx="10839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F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Nuestra arquitectura garantiza el cumplimiento por diseño y por defecto.</a:t>
            </a:r>
            <a:endParaRPr lang="en-US" sz="1050" dirty="0"/>
          </a:p>
        </p:txBody>
      </p:sp>
      <p:sp>
        <p:nvSpPr>
          <p:cNvPr id="34" name="Text 13"/>
          <p:cNvSpPr/>
          <p:nvPr/>
        </p:nvSpPr>
        <p:spPr>
          <a:xfrm>
            <a:off x="9791700" y="5505450"/>
            <a:ext cx="15621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 DE CUMPLIMIENTO</a:t>
            </a:r>
            <a:endParaRPr lang="en-US" sz="900" dirty="0"/>
          </a:p>
        </p:txBody>
      </p:sp>
      <p:sp>
        <p:nvSpPr>
          <p:cNvPr id="35" name="Text 14"/>
          <p:cNvSpPr/>
          <p:nvPr/>
        </p:nvSpPr>
        <p:spPr>
          <a:xfrm>
            <a:off x="9791700" y="5676900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CERTIFICADO 2026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621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90825"/>
            <a:ext cx="1912590" cy="16192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4846" y="3019425"/>
            <a:ext cx="285750" cy="2857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8390" y="3486150"/>
            <a:ext cx="142875" cy="228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5565" y="2790825"/>
            <a:ext cx="1912590" cy="16192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8911" y="3019425"/>
            <a:ext cx="285750" cy="2857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2455" y="3486150"/>
            <a:ext cx="142875" cy="2286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39630" y="2790825"/>
            <a:ext cx="1912590" cy="16192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52976" y="3019425"/>
            <a:ext cx="285750" cy="2857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66521" y="3486150"/>
            <a:ext cx="142875" cy="2286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23696" y="2790825"/>
            <a:ext cx="1912590" cy="16192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56091" y="3019425"/>
            <a:ext cx="247650" cy="2857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50586" y="3486150"/>
            <a:ext cx="142875" cy="2286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07761" y="2790825"/>
            <a:ext cx="1912590" cy="16192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21107" y="3019425"/>
            <a:ext cx="285750" cy="2857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5600700"/>
            <a:ext cx="11049000" cy="6858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0100" y="5829300"/>
            <a:ext cx="228600" cy="2286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571500" y="571500"/>
            <a:ext cx="1162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1B43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Ciclo de Vida del Dato</a:t>
            </a:r>
            <a:endParaRPr lang="en-US" sz="3600" dirty="0"/>
          </a:p>
        </p:txBody>
      </p:sp>
      <p:sp>
        <p:nvSpPr>
          <p:cNvPr id="21" name="Text 1"/>
          <p:cNvSpPr/>
          <p:nvPr/>
        </p:nvSpPr>
        <p:spPr>
          <a:xfrm>
            <a:off x="571500" y="1104900"/>
            <a:ext cx="1104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spc="72" kern="0" dirty="0">
                <a:solidFill>
                  <a:srgbClr val="BC6C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VISIÓN 360°: EL VIAJE DEL DATO</a:t>
            </a:r>
            <a:endParaRPr lang="en-US" sz="1800" dirty="0"/>
          </a:p>
        </p:txBody>
      </p:sp>
      <p:sp>
        <p:nvSpPr>
          <p:cNvPr id="22" name="Text 2"/>
          <p:cNvSpPr/>
          <p:nvPr/>
        </p:nvSpPr>
        <p:spPr>
          <a:xfrm>
            <a:off x="800100" y="3457575"/>
            <a:ext cx="14553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Captura</a:t>
            </a:r>
            <a:endParaRPr lang="en-US" sz="1350" dirty="0"/>
          </a:p>
        </p:txBody>
      </p:sp>
      <p:sp>
        <p:nvSpPr>
          <p:cNvPr id="23" name="Text 3"/>
          <p:cNvSpPr/>
          <p:nvPr/>
        </p:nvSpPr>
        <p:spPr>
          <a:xfrm>
            <a:off x="800100" y="3800475"/>
            <a:ext cx="14553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POS, Web, ERP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BC6C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Pub/Sub</a:t>
            </a:r>
            <a:endParaRPr lang="en-US" sz="1050" dirty="0"/>
          </a:p>
        </p:txBody>
      </p:sp>
      <p:sp>
        <p:nvSpPr>
          <p:cNvPr id="24" name="Text 4"/>
          <p:cNvSpPr/>
          <p:nvPr/>
        </p:nvSpPr>
        <p:spPr>
          <a:xfrm>
            <a:off x="3084165" y="3457575"/>
            <a:ext cx="14553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Lake</a:t>
            </a:r>
            <a:endParaRPr lang="en-US" sz="1350" dirty="0"/>
          </a:p>
        </p:txBody>
      </p:sp>
      <p:sp>
        <p:nvSpPr>
          <p:cNvPr id="25" name="Text 5"/>
          <p:cNvSpPr/>
          <p:nvPr/>
        </p:nvSpPr>
        <p:spPr>
          <a:xfrm>
            <a:off x="3084165" y="3800475"/>
            <a:ext cx="14553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Raw seguros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BC6C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Storage</a:t>
            </a:r>
            <a:endParaRPr lang="en-US" sz="1050" dirty="0"/>
          </a:p>
        </p:txBody>
      </p:sp>
      <p:sp>
        <p:nvSpPr>
          <p:cNvPr id="26" name="Text 6"/>
          <p:cNvSpPr/>
          <p:nvPr/>
        </p:nvSpPr>
        <p:spPr>
          <a:xfrm>
            <a:off x="5368230" y="3457575"/>
            <a:ext cx="14553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Transformación</a:t>
            </a:r>
            <a:endParaRPr lang="en-US" sz="1350" dirty="0"/>
          </a:p>
        </p:txBody>
      </p:sp>
      <p:sp>
        <p:nvSpPr>
          <p:cNvPr id="27" name="Text 7"/>
          <p:cNvSpPr/>
          <p:nvPr/>
        </p:nvSpPr>
        <p:spPr>
          <a:xfrm>
            <a:off x="5368230" y="3800475"/>
            <a:ext cx="14553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Limpieza y Reglas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BC6C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Dataflow</a:t>
            </a:r>
            <a:endParaRPr lang="en-US" sz="1050" dirty="0"/>
          </a:p>
        </p:txBody>
      </p:sp>
      <p:sp>
        <p:nvSpPr>
          <p:cNvPr id="28" name="Text 8"/>
          <p:cNvSpPr/>
          <p:nvPr/>
        </p:nvSpPr>
        <p:spPr>
          <a:xfrm>
            <a:off x="7652296" y="3457575"/>
            <a:ext cx="14553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Warehouse</a:t>
            </a:r>
            <a:endParaRPr lang="en-US" sz="1350" dirty="0"/>
          </a:p>
        </p:txBody>
      </p:sp>
      <p:sp>
        <p:nvSpPr>
          <p:cNvPr id="29" name="Text 9"/>
          <p:cNvSpPr/>
          <p:nvPr/>
        </p:nvSpPr>
        <p:spPr>
          <a:xfrm>
            <a:off x="7652296" y="3800475"/>
            <a:ext cx="14553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Masivo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BC6C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BigQuery</a:t>
            </a:r>
            <a:endParaRPr lang="en-US" sz="1050" dirty="0"/>
          </a:p>
        </p:txBody>
      </p:sp>
      <p:sp>
        <p:nvSpPr>
          <p:cNvPr id="30" name="Text 10"/>
          <p:cNvSpPr/>
          <p:nvPr/>
        </p:nvSpPr>
        <p:spPr>
          <a:xfrm>
            <a:off x="9936361" y="3457575"/>
            <a:ext cx="14553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350" dirty="0"/>
          </a:p>
        </p:txBody>
      </p:sp>
      <p:sp>
        <p:nvSpPr>
          <p:cNvPr id="31" name="Text 11"/>
          <p:cNvSpPr/>
          <p:nvPr/>
        </p:nvSpPr>
        <p:spPr>
          <a:xfrm>
            <a:off x="9936361" y="3800475"/>
            <a:ext cx="14553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Dashboards y BI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BC6C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Looker</a:t>
            </a:r>
            <a:endParaRPr lang="en-US" sz="1050" dirty="0"/>
          </a:p>
        </p:txBody>
      </p:sp>
      <p:sp>
        <p:nvSpPr>
          <p:cNvPr id="32" name="Text 12"/>
          <p:cNvSpPr/>
          <p:nvPr/>
        </p:nvSpPr>
        <p:spPr>
          <a:xfrm>
            <a:off x="1181100" y="5848350"/>
            <a:ext cx="11010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Gobernanza aplicada en cada etapa para garantizar la calidad y cumplimiento legal.</a:t>
            </a:r>
            <a:endParaRPr lang="en-US" sz="1050" dirty="0"/>
          </a:p>
        </p:txBody>
      </p:sp>
      <p:sp>
        <p:nvSpPr>
          <p:cNvPr id="33" name="Text 13"/>
          <p:cNvSpPr/>
          <p:nvPr/>
        </p:nvSpPr>
        <p:spPr>
          <a:xfrm>
            <a:off x="8433346" y="5867400"/>
            <a:ext cx="37586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spc="72" kern="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PIPELINE | GRUPO CORDILLERA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09600"/>
            <a:ext cx="10972800" cy="914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828925"/>
            <a:ext cx="2590800" cy="12763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2125" y="3057525"/>
            <a:ext cx="285750" cy="2857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5200" y="1981200"/>
            <a:ext cx="5181600" cy="1066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3800" y="2240161"/>
            <a:ext cx="504825" cy="54887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6200" y="2408039"/>
            <a:ext cx="200025" cy="2286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5200" y="3886200"/>
            <a:ext cx="5181600" cy="10668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33800" y="4145161"/>
            <a:ext cx="561975" cy="548878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86200" y="4313039"/>
            <a:ext cx="257175" cy="2286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91600" y="2214563"/>
            <a:ext cx="2590800" cy="250507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82200" y="2519363"/>
            <a:ext cx="609600" cy="6096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86988" y="2709863"/>
            <a:ext cx="200025" cy="2286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96400" y="3929063"/>
            <a:ext cx="1981200" cy="48577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5410200"/>
            <a:ext cx="10972800" cy="12192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838200" y="609600"/>
            <a:ext cx="11353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4500"/>
              </a:lnSpc>
              <a:buNone/>
            </a:pPr>
            <a:r>
              <a:rPr lang="en-US" sz="3600" dirty="0">
                <a:solidFill>
                  <a:srgbClr val="064E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Arquitectura de Referencia: Lambda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838200" y="1257300"/>
            <a:ext cx="11353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Velocidad en tiempo real y precisión histórica unificadas.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838200" y="3457575"/>
            <a:ext cx="213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spc="42" kern="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FUENTES DE DATOS</a:t>
            </a:r>
            <a:endParaRPr lang="en-US" sz="1050" dirty="0"/>
          </a:p>
        </p:txBody>
      </p:sp>
      <p:sp>
        <p:nvSpPr>
          <p:cNvPr id="20" name="Text 3"/>
          <p:cNvSpPr/>
          <p:nvPr/>
        </p:nvSpPr>
        <p:spPr>
          <a:xfrm>
            <a:off x="838200" y="3724275"/>
            <a:ext cx="2133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POS, Web, ERP, IoT</a:t>
            </a:r>
            <a:endParaRPr lang="en-US" sz="900" dirty="0"/>
          </a:p>
        </p:txBody>
      </p:sp>
      <p:sp>
        <p:nvSpPr>
          <p:cNvPr id="21" name="Text 4"/>
          <p:cNvSpPr/>
          <p:nvPr/>
        </p:nvSpPr>
        <p:spPr>
          <a:xfrm>
            <a:off x="4467225" y="2209800"/>
            <a:ext cx="3840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84" kern="0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 SPEED (TIEMPO REAL)</a:t>
            </a:r>
            <a:endParaRPr lang="en-US" sz="1050" dirty="0"/>
          </a:p>
        </p:txBody>
      </p:sp>
      <p:sp>
        <p:nvSpPr>
          <p:cNvPr id="22" name="Text 5"/>
          <p:cNvSpPr/>
          <p:nvPr/>
        </p:nvSpPr>
        <p:spPr>
          <a:xfrm>
            <a:off x="4467225" y="2438400"/>
            <a:ext cx="28803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Pub/Sub + Dataflow</a:t>
            </a:r>
            <a:endParaRPr lang="en-US" sz="1050" dirty="0"/>
          </a:p>
        </p:txBody>
      </p:sp>
      <p:sp>
        <p:nvSpPr>
          <p:cNvPr id="23" name="Text 6"/>
          <p:cNvSpPr/>
          <p:nvPr/>
        </p:nvSpPr>
        <p:spPr>
          <a:xfrm>
            <a:off x="4467225" y="2667000"/>
            <a:ext cx="6583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Alertas de fraude, quiebres de stock inmediatos.</a:t>
            </a:r>
            <a:endParaRPr lang="en-US" sz="900" dirty="0"/>
          </a:p>
        </p:txBody>
      </p:sp>
      <p:sp>
        <p:nvSpPr>
          <p:cNvPr id="24" name="Text 7"/>
          <p:cNvSpPr/>
          <p:nvPr/>
        </p:nvSpPr>
        <p:spPr>
          <a:xfrm>
            <a:off x="5238750" y="3390900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64748B"/>
                </a:solidFill>
                <a:highlight>
                  <a:srgbClr val="E2E8F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PROCESAMIENTO PARALELO</a:t>
            </a:r>
            <a:endParaRPr lang="en-US" sz="750" dirty="0"/>
          </a:p>
        </p:txBody>
      </p:sp>
      <p:sp>
        <p:nvSpPr>
          <p:cNvPr id="25" name="Text 8"/>
          <p:cNvSpPr/>
          <p:nvPr/>
        </p:nvSpPr>
        <p:spPr>
          <a:xfrm>
            <a:off x="4524375" y="4114800"/>
            <a:ext cx="35204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84" kern="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 BATCH (HISTÓRICA)</a:t>
            </a:r>
            <a:endParaRPr lang="en-US" sz="1050" dirty="0"/>
          </a:p>
        </p:txBody>
      </p:sp>
      <p:sp>
        <p:nvSpPr>
          <p:cNvPr id="26" name="Text 9"/>
          <p:cNvSpPr/>
          <p:nvPr/>
        </p:nvSpPr>
        <p:spPr>
          <a:xfrm>
            <a:off x="4524375" y="4343400"/>
            <a:ext cx="3840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Storage + BigQuery</a:t>
            </a:r>
            <a:endParaRPr lang="en-US" sz="1050" dirty="0"/>
          </a:p>
        </p:txBody>
      </p:sp>
      <p:sp>
        <p:nvSpPr>
          <p:cNvPr id="27" name="Text 10"/>
          <p:cNvSpPr/>
          <p:nvPr/>
        </p:nvSpPr>
        <p:spPr>
          <a:xfrm>
            <a:off x="4524375" y="4572000"/>
            <a:ext cx="685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Consolidación nocturna, máxima precisión de datos.</a:t>
            </a:r>
            <a:endParaRPr lang="en-US" sz="900" dirty="0"/>
          </a:p>
        </p:txBody>
      </p:sp>
      <p:sp>
        <p:nvSpPr>
          <p:cNvPr id="28" name="Text 11"/>
          <p:cNvSpPr/>
          <p:nvPr/>
        </p:nvSpPr>
        <p:spPr>
          <a:xfrm>
            <a:off x="9296400" y="3281363"/>
            <a:ext cx="1981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7C2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BIGQUERY</a:t>
            </a:r>
            <a:endParaRPr lang="en-US" sz="1350" dirty="0"/>
          </a:p>
        </p:txBody>
      </p:sp>
      <p:sp>
        <p:nvSpPr>
          <p:cNvPr id="29" name="Text 12"/>
          <p:cNvSpPr/>
          <p:nvPr/>
        </p:nvSpPr>
        <p:spPr>
          <a:xfrm>
            <a:off x="9296400" y="3586163"/>
            <a:ext cx="198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Serving Layer</a:t>
            </a:r>
            <a:endParaRPr lang="en-US" sz="1050" dirty="0"/>
          </a:p>
        </p:txBody>
      </p:sp>
      <p:sp>
        <p:nvSpPr>
          <p:cNvPr id="30" name="Text 13"/>
          <p:cNvSpPr/>
          <p:nvPr/>
        </p:nvSpPr>
        <p:spPr>
          <a:xfrm>
            <a:off x="9296400" y="4081463"/>
            <a:ext cx="19812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VISUALIZACIÓN DIRECTIVA</a:t>
            </a:r>
            <a:endParaRPr lang="en-US" sz="750" dirty="0"/>
          </a:p>
        </p:txBody>
      </p:sp>
      <p:sp>
        <p:nvSpPr>
          <p:cNvPr id="31" name="Text 14"/>
          <p:cNvSpPr/>
          <p:nvPr/>
        </p:nvSpPr>
        <p:spPr>
          <a:xfrm>
            <a:off x="9296400" y="4262438"/>
            <a:ext cx="1981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Looker / BI Reports</a:t>
            </a:r>
            <a:endParaRPr lang="en-US" sz="900" dirty="0"/>
          </a:p>
        </p:txBody>
      </p:sp>
      <p:sp>
        <p:nvSpPr>
          <p:cNvPr id="32" name="Text 15"/>
          <p:cNvSpPr/>
          <p:nvPr/>
        </p:nvSpPr>
        <p:spPr>
          <a:xfrm>
            <a:off x="914400" y="5715000"/>
            <a:ext cx="91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800" dirty="0"/>
          </a:p>
        </p:txBody>
      </p:sp>
      <p:sp>
        <p:nvSpPr>
          <p:cNvPr id="33" name="Text 16"/>
          <p:cNvSpPr/>
          <p:nvPr/>
        </p:nvSpPr>
        <p:spPr>
          <a:xfrm>
            <a:off x="1333500" y="571500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Visión 360° Sin Retrasos</a:t>
            </a:r>
            <a:endParaRPr lang="en-US" sz="1200" dirty="0"/>
          </a:p>
        </p:txBody>
      </p:sp>
      <p:sp>
        <p:nvSpPr>
          <p:cNvPr id="34" name="Text 17"/>
          <p:cNvSpPr/>
          <p:nvPr/>
        </p:nvSpPr>
        <p:spPr>
          <a:xfrm>
            <a:off x="1333500" y="5943600"/>
            <a:ext cx="4533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capa Speed permite reaccionar a la demanda del mercado en segundos, no días.</a:t>
            </a:r>
            <a:endParaRPr lang="en-US" sz="1050" dirty="0"/>
          </a:p>
        </p:txBody>
      </p:sp>
      <p:sp>
        <p:nvSpPr>
          <p:cNvPr id="35" name="Text 18"/>
          <p:cNvSpPr/>
          <p:nvPr/>
        </p:nvSpPr>
        <p:spPr>
          <a:xfrm>
            <a:off x="6324600" y="5715000"/>
            <a:ext cx="91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800" dirty="0"/>
          </a:p>
        </p:txBody>
      </p:sp>
      <p:sp>
        <p:nvSpPr>
          <p:cNvPr id="36" name="Text 19"/>
          <p:cNvSpPr/>
          <p:nvPr/>
        </p:nvSpPr>
        <p:spPr>
          <a:xfrm>
            <a:off x="6781800" y="5715000"/>
            <a:ext cx="449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 Única de Verdad</a:t>
            </a:r>
            <a:endParaRPr lang="en-US" sz="1200" dirty="0"/>
          </a:p>
        </p:txBody>
      </p:sp>
      <p:sp>
        <p:nvSpPr>
          <p:cNvPr id="37" name="Text 20"/>
          <p:cNvSpPr/>
          <p:nvPr/>
        </p:nvSpPr>
        <p:spPr>
          <a:xfrm>
            <a:off x="6781800" y="5943600"/>
            <a:ext cx="4495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capa Batch corrige inconsistencias y garantiza reportes financieros 100% veraces.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2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60" y="476618"/>
            <a:ext cx="317745" cy="2647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660" y="1955084"/>
            <a:ext cx="5566333" cy="225183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490" y="2166915"/>
            <a:ext cx="370703" cy="3707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58" y="2242317"/>
            <a:ext cx="258168" cy="21989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490" y="3862693"/>
            <a:ext cx="132394" cy="13239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1823" y="1955084"/>
            <a:ext cx="5566436" cy="2251833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3653" y="2166915"/>
            <a:ext cx="370702" cy="370703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3160" y="2241283"/>
            <a:ext cx="231689" cy="22196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3653" y="3864348"/>
            <a:ext cx="119154" cy="129084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3660" y="4418747"/>
            <a:ext cx="5566333" cy="2004318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490" y="4630577"/>
            <a:ext cx="370703" cy="370703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997" y="4704945"/>
            <a:ext cx="231689" cy="221967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5490" y="6080496"/>
            <a:ext cx="119154" cy="129084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01823" y="4418747"/>
            <a:ext cx="5566436" cy="2004318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13653" y="4630577"/>
            <a:ext cx="370702" cy="370703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83160" y="4704945"/>
            <a:ext cx="231689" cy="221967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13653" y="6078842"/>
            <a:ext cx="132394" cy="132394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6846726"/>
            <a:ext cx="8127843" cy="11274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27843" y="6846726"/>
            <a:ext cx="4063870" cy="11274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847320" y="423660"/>
            <a:ext cx="5065511" cy="13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42"/>
              </a:lnSpc>
              <a:buNone/>
            </a:pPr>
            <a:r>
              <a:rPr lang="en-US" sz="1050" b="1" spc="121" kern="0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OPERACIÓN &amp; ESTRATEGIA</a:t>
            </a:r>
            <a:endParaRPr lang="en-US" sz="1050" dirty="0"/>
          </a:p>
        </p:txBody>
      </p:sp>
      <p:sp>
        <p:nvSpPr>
          <p:cNvPr id="23" name="Text 1"/>
          <p:cNvSpPr/>
          <p:nvPr/>
        </p:nvSpPr>
        <p:spPr>
          <a:xfrm>
            <a:off x="423660" y="609012"/>
            <a:ext cx="11768340" cy="5714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Funcional y Beneficios Clave</a:t>
            </a:r>
            <a:endParaRPr lang="en-US" sz="3600" dirty="0"/>
          </a:p>
        </p:txBody>
      </p:sp>
      <p:sp>
        <p:nvSpPr>
          <p:cNvPr id="24" name="Text 2"/>
          <p:cNvSpPr/>
          <p:nvPr/>
        </p:nvSpPr>
        <p:spPr>
          <a:xfrm>
            <a:off x="423660" y="1233435"/>
            <a:ext cx="11768340" cy="18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59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ganamos como organización con esta evolución?</a:t>
            </a:r>
            <a:endParaRPr lang="en-US" sz="1500" dirty="0"/>
          </a:p>
        </p:txBody>
      </p:sp>
      <p:sp>
        <p:nvSpPr>
          <p:cNvPr id="25" name="Text 3"/>
          <p:cNvSpPr/>
          <p:nvPr/>
        </p:nvSpPr>
        <p:spPr>
          <a:xfrm>
            <a:off x="635490" y="2696490"/>
            <a:ext cx="8683744" cy="21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68"/>
              </a:lnSpc>
              <a:buNone/>
            </a:pPr>
            <a:r>
              <a:rPr lang="en-US" sz="18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Escalabilidad Elástica</a:t>
            </a:r>
            <a:endParaRPr lang="en-US" sz="1800" dirty="0"/>
          </a:p>
        </p:txBody>
      </p:sp>
      <p:sp>
        <p:nvSpPr>
          <p:cNvPr id="26" name="Text 4"/>
          <p:cNvSpPr/>
          <p:nvPr/>
        </p:nvSpPr>
        <p:spPr>
          <a:xfrm>
            <a:off x="635490" y="3014235"/>
            <a:ext cx="5142673" cy="7425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Pago por uso real. Crecimiento sin adquisición de hardware físico, adaptándonos instantáneamente a picos de demanda como el </a:t>
            </a:r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CyberDay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820842" y="3862693"/>
            <a:ext cx="5142673" cy="13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42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EFICIENCIA DE COSTOS</a:t>
            </a:r>
            <a:endParaRPr lang="en-US" sz="1050" dirty="0"/>
          </a:p>
        </p:txBody>
      </p:sp>
      <p:sp>
        <p:nvSpPr>
          <p:cNvPr id="28" name="Text 6"/>
          <p:cNvSpPr/>
          <p:nvPr/>
        </p:nvSpPr>
        <p:spPr>
          <a:xfrm>
            <a:off x="6413653" y="2696490"/>
            <a:ext cx="5778347" cy="21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68"/>
              </a:lnSpc>
              <a:buNone/>
            </a:pPr>
            <a:r>
              <a:rPr lang="en-US" sz="18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Seguridad Aislada</a:t>
            </a:r>
            <a:endParaRPr lang="en-US" sz="1800" dirty="0"/>
          </a:p>
        </p:txBody>
      </p:sp>
      <p:sp>
        <p:nvSpPr>
          <p:cNvPr id="29" name="Text 7"/>
          <p:cNvSpPr/>
          <p:nvPr/>
        </p:nvSpPr>
        <p:spPr>
          <a:xfrm>
            <a:off x="6413653" y="3014235"/>
            <a:ext cx="5142776" cy="7425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Segmentación granular de accesos. Proyectos independientes para RRHH y Finanzas, garantizando que los datos sensibles solo sean vistos por quienes corresponden.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6585765" y="3862693"/>
            <a:ext cx="5142776" cy="13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42"/>
              </a:lnSpc>
              <a:buNone/>
            </a:pPr>
            <a:r>
              <a:rPr lang="en-US" sz="1050" b="1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GRANULAR</a:t>
            </a:r>
            <a:endParaRPr lang="en-US" sz="1050" dirty="0"/>
          </a:p>
        </p:txBody>
      </p:sp>
      <p:sp>
        <p:nvSpPr>
          <p:cNvPr id="31" name="Text 9"/>
          <p:cNvSpPr/>
          <p:nvPr/>
        </p:nvSpPr>
        <p:spPr>
          <a:xfrm>
            <a:off x="635490" y="5160152"/>
            <a:ext cx="7499597" cy="21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68"/>
              </a:lnSpc>
              <a:buNone/>
            </a:pPr>
            <a:r>
              <a:rPr lang="en-US" sz="18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Calidad Garantizada</a:t>
            </a:r>
            <a:endParaRPr lang="en-US" sz="1800" dirty="0"/>
          </a:p>
        </p:txBody>
      </p:sp>
      <p:sp>
        <p:nvSpPr>
          <p:cNvPr id="32" name="Text 10"/>
          <p:cNvSpPr/>
          <p:nvPr/>
        </p:nvSpPr>
        <p:spPr>
          <a:xfrm>
            <a:off x="635490" y="5477898"/>
            <a:ext cx="5142673" cy="49502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Procesos de limpieza y validación automática. Certificación de datos "Single Source of Truth" para la reportería directiva de cada mañana.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807602" y="6078842"/>
            <a:ext cx="5142673" cy="13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42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CONFIABLES</a:t>
            </a:r>
            <a:endParaRPr lang="en-US" sz="1050" dirty="0"/>
          </a:p>
        </p:txBody>
      </p:sp>
      <p:sp>
        <p:nvSpPr>
          <p:cNvPr id="34" name="Text 12"/>
          <p:cNvSpPr/>
          <p:nvPr/>
        </p:nvSpPr>
        <p:spPr>
          <a:xfrm>
            <a:off x="6413653" y="5160152"/>
            <a:ext cx="5778347" cy="21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68"/>
              </a:lnSpc>
              <a:buNone/>
            </a:pPr>
            <a:r>
              <a:rPr lang="en-US" sz="18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Optimización Analítica</a:t>
            </a:r>
            <a:endParaRPr lang="en-US" sz="1800" dirty="0"/>
          </a:p>
        </p:txBody>
      </p:sp>
      <p:sp>
        <p:nvSpPr>
          <p:cNvPr id="35" name="Text 13"/>
          <p:cNvSpPr/>
          <p:nvPr/>
        </p:nvSpPr>
        <p:spPr>
          <a:xfrm>
            <a:off x="6413653" y="5477898"/>
            <a:ext cx="5142776" cy="49502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de </a:t>
            </a:r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BigQuery ML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modelos predictivos (fuga de clientes, demanda de stock) utilizando lenguaje SQL estándar.</a:t>
            </a:r>
            <a:endParaRPr lang="en-US" sz="1200" dirty="0"/>
          </a:p>
        </p:txBody>
      </p:sp>
      <p:sp>
        <p:nvSpPr>
          <p:cNvPr id="36" name="Text 14"/>
          <p:cNvSpPr/>
          <p:nvPr/>
        </p:nvSpPr>
        <p:spPr>
          <a:xfrm>
            <a:off x="6599004" y="6078842"/>
            <a:ext cx="5142776" cy="13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42"/>
              </a:lnSpc>
              <a:buNone/>
            </a:pPr>
            <a:r>
              <a:rPr lang="en-US" sz="1050" b="1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 PREDICTIVO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57" y="522514"/>
            <a:ext cx="348343" cy="2902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57" y="2229644"/>
            <a:ext cx="3106057" cy="101033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389755"/>
            <a:ext cx="188686" cy="19855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4686" y="2229644"/>
            <a:ext cx="3106057" cy="101033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9829" y="2390888"/>
            <a:ext cx="166914" cy="19628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457" y="3414146"/>
            <a:ext cx="3106057" cy="101033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574597"/>
            <a:ext cx="217714" cy="19787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44686" y="3414146"/>
            <a:ext cx="3106057" cy="101033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89829" y="3574256"/>
            <a:ext cx="188686" cy="198551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457" y="4785406"/>
            <a:ext cx="6386286" cy="1608024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6686" y="5810930"/>
            <a:ext cx="5921829" cy="350271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6686" y="5927045"/>
            <a:ext cx="283029" cy="234157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15200" y="0"/>
            <a:ext cx="4876800" cy="68580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15200" y="0"/>
            <a:ext cx="4876800" cy="68580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15200" y="0"/>
            <a:ext cx="4876800" cy="68580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76229" y="6016172"/>
            <a:ext cx="2815771" cy="377371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899886" y="464457"/>
            <a:ext cx="4620578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43"/>
              </a:lnSpc>
              <a:buNone/>
            </a:pPr>
            <a:r>
              <a:rPr lang="en-US" sz="1050" b="1" spc="110" kern="0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CONCLUSIÓN ESTRATÉGICA</a:t>
            </a:r>
            <a:endParaRPr lang="en-US" sz="1050" dirty="0"/>
          </a:p>
        </p:txBody>
      </p:sp>
      <p:sp>
        <p:nvSpPr>
          <p:cNvPr id="20" name="Text 1"/>
          <p:cNvSpPr/>
          <p:nvPr/>
        </p:nvSpPr>
        <p:spPr>
          <a:xfrm>
            <a:off x="464457" y="725714"/>
            <a:ext cx="638628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64E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Salto Cuántico para Grupo Cordillera</a:t>
            </a:r>
            <a:endParaRPr lang="en-US" sz="3600" dirty="0"/>
          </a:p>
        </p:txBody>
      </p:sp>
      <p:sp>
        <p:nvSpPr>
          <p:cNvPr id="21" name="Text 2"/>
          <p:cNvSpPr/>
          <p:nvPr/>
        </p:nvSpPr>
        <p:spPr>
          <a:xfrm>
            <a:off x="885371" y="2374787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Reducción de TCO</a:t>
            </a:r>
            <a:endParaRPr lang="en-US" sz="1200" dirty="0"/>
          </a:p>
        </p:txBody>
      </p:sp>
      <p:sp>
        <p:nvSpPr>
          <p:cNvPr id="22" name="Text 3"/>
          <p:cNvSpPr/>
          <p:nvPr/>
        </p:nvSpPr>
        <p:spPr>
          <a:xfrm>
            <a:off x="609600" y="2661444"/>
            <a:ext cx="2815771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Eliminación de costos de hardware y mantenimiento de BI tradicional.</a:t>
            </a:r>
            <a:endParaRPr lang="en-US" sz="1050" dirty="0"/>
          </a:p>
        </p:txBody>
      </p:sp>
      <p:sp>
        <p:nvSpPr>
          <p:cNvPr id="23" name="Text 4"/>
          <p:cNvSpPr/>
          <p:nvPr/>
        </p:nvSpPr>
        <p:spPr>
          <a:xfrm>
            <a:off x="4143829" y="2374787"/>
            <a:ext cx="45605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Agilidad de Negocio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3889829" y="2661444"/>
            <a:ext cx="2815771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 de respuesta en minutos, optimizando el stock real.</a:t>
            </a:r>
            <a:endParaRPr lang="en-US" sz="1050" dirty="0"/>
          </a:p>
        </p:txBody>
      </p:sp>
      <p:sp>
        <p:nvSpPr>
          <p:cNvPr id="25" name="Text 6"/>
          <p:cNvSpPr/>
          <p:nvPr/>
        </p:nvSpPr>
        <p:spPr>
          <a:xfrm>
            <a:off x="914400" y="3559289"/>
            <a:ext cx="3600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Nuevos Ingresos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609600" y="3845945"/>
            <a:ext cx="2815771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Habilitación de analítica predictiva para personalización de clientes.</a:t>
            </a:r>
            <a:endParaRPr lang="en-US" sz="1050" dirty="0"/>
          </a:p>
        </p:txBody>
      </p:sp>
      <p:sp>
        <p:nvSpPr>
          <p:cNvPr id="27" name="Text 8"/>
          <p:cNvSpPr/>
          <p:nvPr/>
        </p:nvSpPr>
        <p:spPr>
          <a:xfrm>
            <a:off x="4165600" y="3559289"/>
            <a:ext cx="55206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Decisiones Inteligentes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3889829" y="3845945"/>
            <a:ext cx="2815771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Transición de la intuición operativa a la gestión basada en datos.</a:t>
            </a:r>
            <a:endParaRPr lang="en-US" sz="1050" dirty="0"/>
          </a:p>
        </p:txBody>
      </p:sp>
      <p:sp>
        <p:nvSpPr>
          <p:cNvPr id="29" name="Text 10"/>
          <p:cNvSpPr/>
          <p:nvPr/>
        </p:nvSpPr>
        <p:spPr>
          <a:xfrm>
            <a:off x="696686" y="5017634"/>
            <a:ext cx="5921829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37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"Esta arquitectura no es un gasto, es el </a:t>
            </a:r>
            <a:pPr indent="0" marL="0">
              <a:lnSpc>
                <a:spcPts val="2437"/>
              </a:lnSpc>
              <a:buNone/>
            </a:pPr>
            <a:r>
              <a:rPr lang="en-US" sz="1500" b="1" i="1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nervioso</a:t>
            </a:r>
            <a:pPr indent="0" marL="0">
              <a:lnSpc>
                <a:spcPts val="2437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Grupo Cordillera necesita para liderar el mercado."</a:t>
            </a:r>
            <a:endParaRPr lang="en-US" sz="1500" dirty="0"/>
          </a:p>
        </p:txBody>
      </p:sp>
      <p:sp>
        <p:nvSpPr>
          <p:cNvPr id="30" name="Text 11"/>
          <p:cNvSpPr/>
          <p:nvPr/>
        </p:nvSpPr>
        <p:spPr>
          <a:xfrm>
            <a:off x="9608457" y="6016172"/>
            <a:ext cx="2583543" cy="3773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CORDILLERA 2026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ep:Properties xmlns:ep="http://schemas.openxmlformats.org/officeDocument/2006/extended-properties" xmlns:vt="http://schemas.openxmlformats.org/officeDocument/2006/docPropsVTypes">
  <ep:TotalTime>0</ep:TotalTime>
  <ep:Words>0</ep:Words>
  <ep:Application>Microsoft Office PowerPoint</ep:Application>
  <ep:PresentationFormat>On-screen Show (16:9)</ep:PresentationFormat>
  <ep:Paragraphs>0</ep:Paragraphs>
  <ep:Slides>10</ep:Slides>
  <ep:Notes>10</ep:Notes>
  <ep:HiddenSlides>0</ep:HiddenSlides>
  <ep:MMClips>0</ep:MMClips>
  <ep:ScaleCrop>false</ep:ScaleCrop>
  <ep: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ep:HeadingPairs>
  <ep: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ep:TitlesOfParts>
  <ep:Company/>
  <ep:LinksUpToDate>false</ep:LinksUpToDate>
  <ep:SharedDoc>false</ep:SharedDoc>
  <ep:HyperlinksChanged>false</ep:HyperlinksChanged>
  <ep:AppVersion>16.0000</ep:AppVersion>
</e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PptxGenJS Presentation</dc:title>
  <dc:subject>PptxGenJS Presentation</dc:subject>
  <dc:creator>Héctor Aguila</dc:creator>
  <cp:lastModifiedBy>Héctor Aguila</cp:lastModifiedBy>
  <cp:revision>1</cp:revision>
  <dcterms:created xsi:type="dcterms:W3CDTF">2026-04-10T22:46:55Z</dcterms:created>
  <dcterms:modified xsi:type="dcterms:W3CDTF">2026-04-10T22:46:55Z</dcterms:modified>
</cp:coreProperties>
</file>